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berlin/barrierefreies-dachgeschoss-berlin-din-18040/" TargetMode="External"/><Relationship Id="rId3" Type="http://schemas.openxmlformats.org/officeDocument/2006/relationships/hyperlink" Target="https://holzundhaus.github.io/dachgeschossausbauberlin/dateien/minimax-15740f5772ffb7376ceaef0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Barrierefreies Dachgeschoss in Berlin nach DIN 18040 · Erklärende Präsentation</a:t>
            </a:r>
          </a:p>
        </p:txBody>
      </p:sp>
      <p:sp>
        <p:nvSpPr>
          <p:cNvPr id="3" name="Content Placeholder 2"/>
          <p:cNvSpPr>
            <a:spLocks noGrp="1"/>
          </p:cNvSpPr>
          <p:nvPr>
            <p:ph idx="1"/>
          </p:nvPr>
        </p:nvSpPr>
        <p:spPr/>
        <p:txBody>
          <a:bodyPr/>
          <a:lstStyle/>
          <a:p>
            <a:r>
              <a:t>Überblick: Ein Dachgeschossausbau in einem Berliner Mehrfamilienhaus verändert nicht nur die Nutzung, sondern auch die Anforderungen an Erschließung, Grundrisse und Ausstattung. Besonders wichtig ist die Frage, welche Vorgaben für Barrierefreiheit bei neuem Wohnraum im Bestand gelten. Der folgende Überblick ordnet die zentralen Prüfpunkte aus DIN 18040-2 und Berliner Bauordnung ein und zeigt, warum eine frühzeitige Abstimmung mit der Bauaufsicht sinnvoll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die DIN 18040-2 relevant wird</a:t>
            </a:r>
          </a:p>
        </p:txBody>
      </p:sp>
      <p:sp>
        <p:nvSpPr>
          <p:cNvPr id="3" name="Content Placeholder 2"/>
          <p:cNvSpPr>
            <a:spLocks noGrp="1"/>
          </p:cNvSpPr>
          <p:nvPr>
            <p:ph idx="1"/>
          </p:nvPr>
        </p:nvSpPr>
        <p:spPr/>
        <p:txBody>
          <a:bodyPr/>
          <a:lstStyle/>
          <a:p>
            <a:pPr>
              <a:defRPr sz="1800"/>
            </a:pPr>
            <a:r>
              <a:t>Die DIN 18040-2 unterscheidet zwischen barrierefrei nutzbaren und uneingeschränkt mit dem Rollstuhl nutzbaren Wohnungen. Beim Ausbau eines bisher nicht vollständig ausgebauten Dachgeschosses kann eine wesentliche Änderung vorliegen, weil zusätzlicher Wohnraum entsteht. Damit können höhere Anforderungen an Bewegungsflächen, Türen und Erschließung relevant werden. Ob und in welchem Umfang dies im konkreten Gebäude zutrifft, sollte früh mit der zuständigen Bauaufsicht geklärt werden. Für einen allgemeineren Einstieg in die Planung im Berliner Bestand bietet sich der Beitrag Barrierefreies Dachgeschoss nach DIN 18040 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Türen, Schwellen und Bewegungsflächen im Schrägdach</a:t>
            </a:r>
          </a:p>
        </p:txBody>
      </p:sp>
      <p:sp>
        <p:nvSpPr>
          <p:cNvPr id="3" name="Content Placeholder 2"/>
          <p:cNvSpPr>
            <a:spLocks noGrp="1"/>
          </p:cNvSpPr>
          <p:nvPr>
            <p:ph idx="1"/>
          </p:nvPr>
        </p:nvSpPr>
        <p:spPr/>
        <p:txBody>
          <a:bodyPr/>
          <a:lstStyle/>
          <a:p>
            <a:pPr>
              <a:defRPr sz="1800"/>
            </a:pPr>
            <a:r>
              <a:t>Im Dachgeschoss werden lichte Türbreiten und Schwellenhöhen schnell zur Herausforderung. Als Zielwerte nennt die Quelle für Wohnungseingangstüren mindestens 90 Zentimeter, für Innentüren mindestens 80 und besser 90 Zentimeter. Schwellen sollen grundsätzlich vermieden werden; technisch unvermeidbare Schwellen dürfen maximal 20 Millimeter hoch sein. Vor Türen ist eine Bewegungsfläche von mindestens 150 mal 150 Zentimetern vorgesehen. Die Schräge des Daches, Holzbalken und begrenzte Kopfhöhen können die Umsetzung einschränken. Türen können deshalb an geeigneter Stelle sitzen oder durch Aufkantungen im Fußbodenaufbau angepasst werden. Die tatsäch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Türen, Schwellen und Bewegungsflächen im Schrägdach</a:t>
            </a:r>
          </a:p>
        </p:txBody>
      </p:sp>
      <p:sp>
        <p:nvSpPr>
          <p:cNvPr id="3" name="Content Placeholder 2"/>
          <p:cNvSpPr>
            <a:spLocks noGrp="1"/>
          </p:cNvSpPr>
          <p:nvPr>
            <p:ph idx="1"/>
          </p:nvPr>
        </p:nvSpPr>
        <p:spPr/>
        <p:txBody>
          <a:bodyPr/>
          <a:lstStyle/>
          <a:p>
            <a:pPr>
              <a:defRPr sz="1800"/>
            </a:pPr>
            <a:r>
              <a:t>liche Planung muss Bestand, Dachausbau und Nutzung zusammenführen.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Bad und Küche unter der Dachschräge</a:t>
            </a:r>
          </a:p>
        </p:txBody>
      </p:sp>
      <p:sp>
        <p:nvSpPr>
          <p:cNvPr id="3" name="Content Placeholder 2"/>
          <p:cNvSpPr>
            <a:spLocks noGrp="1"/>
          </p:cNvSpPr>
          <p:nvPr>
            <p:ph idx="1"/>
          </p:nvPr>
        </p:nvSpPr>
        <p:spPr/>
        <p:txBody>
          <a:bodyPr/>
          <a:lstStyle/>
          <a:p>
            <a:pPr>
              <a:defRPr sz="1800"/>
            </a:pPr>
            <a:r>
              <a:t>Ein typischer Knickbereich im Dachgeschoss eignet sich nicht automatisch für barrierefreie Sanitär- und Küchenbereiche. Zwischen Sanitärobjekten müssen ausreichend Mindestabstände bleiben, damit die Nutzung mit Rollstuhl möglich ist. Unter flachen Schrägen sind solche Abstände häufig leichter herzustellen als direkt unter der Kehlbalkenlage. Für die Planung ist daher die stützenfreie Grundfläche entscheidend. Räume sollten früh anhand der erforderlichen Bewegungsflächen und der tatsächlichen Dachgeometrie geprüft werden, statt die Barrierefreiheit erst nach der Grundrissentscheidung zu ergänzen.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Aufzug, Treppenlift und Bestandsgebäude</a:t>
            </a:r>
          </a:p>
        </p:txBody>
      </p:sp>
      <p:sp>
        <p:nvSpPr>
          <p:cNvPr id="3" name="Content Placeholder 2"/>
          <p:cNvSpPr>
            <a:spLocks noGrp="1"/>
          </p:cNvSpPr>
          <p:nvPr>
            <p:ph idx="1"/>
          </p:nvPr>
        </p:nvSpPr>
        <p:spPr/>
        <p:txBody>
          <a:bodyPr/>
          <a:lstStyle/>
          <a:p>
            <a:pPr>
              <a:defRPr sz="1800"/>
            </a:pPr>
            <a:r>
              <a:t>Bei Mehrfamilienhäusern stellt sich die Frage, ob das Dachgeschoss über einen vorhandenen Aufzug erreichbar ist oder ob eine Erschließung ergänzt werden muss. Ein Aufzug, der nicht jedes Geschoss mit Wohnungen bedient, kann die barrierefreie Nutzung des Dachgeschosses einschränken. Eine Nachrüstung ist im Altbau statisch, konstruktiv und brandschutztechnisch anspruchsvoll. Auch die Machbarkeit eines Treppenlifts muss im Zusammenhang mit Treppenhaus, Gebäudestruktur und Genehmigungsfähigkeit geprüft werden. Bei denkmalsgeschützten Objekten können zusätzliche Anforderungen an die Eingriffe in den Bestand bestehen.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Förderung und sinnvolle Reihenfolge</a:t>
            </a:r>
          </a:p>
        </p:txBody>
      </p:sp>
      <p:sp>
        <p:nvSpPr>
          <p:cNvPr id="3" name="Content Placeholder 2"/>
          <p:cNvSpPr>
            <a:spLocks noGrp="1"/>
          </p:cNvSpPr>
          <p:nvPr>
            <p:ph idx="1"/>
          </p:nvPr>
        </p:nvSpPr>
        <p:spPr/>
        <p:txBody>
          <a:bodyPr/>
          <a:lstStyle/>
          <a:p>
            <a:pPr>
              <a:defRPr sz="1800"/>
            </a:pPr>
            <a:r>
              <a:t>Für Eigentümerinnen, Eigentümer und Wohnungsbaugesellschaften können je nach Maßnahme Förderbausteine infrage kommen. Genannt werden das KfW-Programm 261 für altersgerechte Wohngebäude, BEG-Einzelmaßnahmen für energetisch wirksame Komponenten sowie Landes- und Bezirksmittel für Aufzugsnachrüstungen und barrierereduzierende Maßnahmen. Die konkrete Förderfähigkeit hängt jedoch vom Vorhaben ab. Eine sinnvolle Reihenfolge ist: Anforderungen nach DIN und Bauordnung klären, die Maßnahme mit der Bauaufsicht abstimmen, Fördermöglichkeiten prüfen und erst danach Anträge vorbereiten. Bezirksspezifische Vorgaben sollten rechtzeitig erfragt werden. Für 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Förderung und sinnvolle Reihenfolge</a:t>
            </a:r>
          </a:p>
        </p:txBody>
      </p:sp>
      <p:sp>
        <p:nvSpPr>
          <p:cNvPr id="3" name="Content Placeholder 2"/>
          <p:cNvSpPr>
            <a:spLocks noGrp="1"/>
          </p:cNvSpPr>
          <p:nvPr>
            <p:ph idx="1"/>
          </p:nvPr>
        </p:nvSpPr>
        <p:spPr/>
        <p:txBody>
          <a:bodyPr/>
          <a:lstStyle/>
          <a:p>
            <a:pPr>
              <a:defRPr sz="1800"/>
            </a:pPr>
            <a:r>
              <a:t>ie übergreifende Vorgehensweise beim Ausbau von Dachgeschossen im Bestand bietet der Beitrag Dachaufstockung im Berliner Bestand weitere Orientierung.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Barrierefreies Dachgeschoss in Berlin nach DIN 18040</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