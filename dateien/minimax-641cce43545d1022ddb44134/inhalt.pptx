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dachgeschossausbauberlin/-/blob/37bdd5ce5214a476cb5bb13a0c4853adcf369cf3/_posts/2026-10-19-badezimmer-dachgeschoss-berlin-leitungen-entwaesserung-lueftung.md" TargetMode="External"/><Relationship Id="rId3" Type="http://schemas.openxmlformats.org/officeDocument/2006/relationships/hyperlink" Target="https://holzundhaus.github.io/dachgeschossausbauberlin/dateien/minimax-641cce43545d1022ddb44134/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Badezimmer im Berliner Dachgeschoss: Leitungen, Entwässerung und Lüftung in Schrägen · Erklärende Präsentation</a:t>
            </a:r>
          </a:p>
        </p:txBody>
      </p:sp>
      <p:sp>
        <p:nvSpPr>
          <p:cNvPr id="3" name="Content Placeholder 2"/>
          <p:cNvSpPr>
            <a:spLocks noGrp="1"/>
          </p:cNvSpPr>
          <p:nvPr>
            <p:ph idx="1"/>
          </p:nvPr>
        </p:nvSpPr>
        <p:spPr/>
        <p:txBody>
          <a:bodyPr/>
          <a:lstStyle/>
          <a:p>
            <a:r>
              <a:t>Überblick: Ein Badezimmer im Berliner Dachgeschoss zu planen, erfordert mehr als technisches Know-how. Baurecht, Genehmigungspflicht und praxisnahe Ausstattungsfragen sind entscheidend, bevor der Installateur die ersten Rohre verlegt. Dieser Ratgeber ergänzt die technischen Leitlinien um die häufig übersehenen planerischen und rechtlichen Aspekte.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Baurecht und Genehmigungspflicht in Berlin</a:t>
            </a:r>
          </a:p>
        </p:txBody>
      </p:sp>
      <p:sp>
        <p:nvSpPr>
          <p:cNvPr id="3" name="Content Placeholder 2"/>
          <p:cNvSpPr>
            <a:spLocks noGrp="1"/>
          </p:cNvSpPr>
          <p:nvPr>
            <p:ph idx="1"/>
          </p:nvPr>
        </p:nvSpPr>
        <p:spPr/>
        <p:txBody>
          <a:bodyPr/>
          <a:lstStyle/>
          <a:p>
            <a:pPr>
              <a:defRPr sz="1800"/>
            </a:pPr>
            <a:r>
              <a:t>In Berlin unterliegt die Installation eines zusätzlichen Badezimmers im Dachgeschoss der Landesbauordnung und dem Bebauungsplan des jeweiligen Bezirks. Entscheidend ist, ob der Dachboden bereits als Wohnraum genehmigt ist oder die Nutzungsänderung noch aussteht. Bei einem genehmigten Dachgeschoss genügt in der Regel eine Anzeige bei der zuständigen Bauaufsichtsbehörde, sofern keine statischen Eingriffe oder tragenden Bauteile betroffen sind. Ein vollständiger Bauantrag wird notwendig, wenn die Grundfläche des Badezimmers die genehmigte Wohnfläche erweitert oder wenn Änderungen an der Dachkonstruktion vorgenommen werden. Die Berliner Bezirksäm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Baurecht und Genehmigungspflicht in Berlin</a:t>
            </a:r>
          </a:p>
        </p:txBody>
      </p:sp>
      <p:sp>
        <p:nvSpPr>
          <p:cNvPr id="3" name="Content Placeholder 2"/>
          <p:cNvSpPr>
            <a:spLocks noGrp="1"/>
          </p:cNvSpPr>
          <p:nvPr>
            <p:ph idx="1"/>
          </p:nvPr>
        </p:nvSpPr>
        <p:spPr/>
        <p:txBody>
          <a:bodyPr/>
          <a:lstStyle/>
          <a:p>
            <a:pPr>
              <a:defRPr sz="1800"/>
            </a:pPr>
            <a:r>
              <a:t>ter prüfen dabei die Einhaltung der Mindeststandards für Belichtung, Belüftung und Barrierefreiheit. Ohne gültige Genehmigung drohen Auflagen bei einem späteren Verkauf oder einer Modernisierungsförderung. Frühzeitige Klärung mit dem Bauamt spart daher Zeit und Kosten.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Wasserdruck und Versorgungsleitungen im Obergeschoss</a:t>
            </a:r>
          </a:p>
        </p:txBody>
      </p:sp>
      <p:sp>
        <p:nvSpPr>
          <p:cNvPr id="3" name="Content Placeholder 2"/>
          <p:cNvSpPr>
            <a:spLocks noGrp="1"/>
          </p:cNvSpPr>
          <p:nvPr>
            <p:ph idx="1"/>
          </p:nvPr>
        </p:nvSpPr>
        <p:spPr/>
        <p:txBody>
          <a:bodyPr/>
          <a:lstStyle/>
          <a:p>
            <a:pPr>
              <a:defRPr sz="1800"/>
            </a:pPr>
            <a:r>
              <a:t>Wasserdruckprobleme zählen zu den häufigsten Beschwerden nach einem Dachgeschossausbau. In mehrstöckigen Altbauten sinkt der Druck auf den oberen Etagen natürlicherweise ab, besonders in den frühen Morgenstunden oder bei gleichzeitiger Nutzung mehrerer Zapfstellen. Ein Badezimmer im DG benötigt einen Mindestfließdruck von etwa 1,0 bis 1,5 bar an der Entnahmestelle, damit Armaturen und Druckspüler einwandfrei funktionieren. Abhilfe schaffen Druckschalter oder kleinere Hauswasserwerke, die den Druck im Bedarfsfall anheben. Die Frage, ob eine eigene Zirkulationsleitung für Warmwasser notwendig ist, hängt von der Entfernung zwischen Wärmeerzeuger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Wasserdruck und Versorgungsleitungen im Obergeschoss</a:t>
            </a:r>
          </a:p>
        </p:txBody>
      </p:sp>
      <p:sp>
        <p:nvSpPr>
          <p:cNvPr id="3" name="Content Placeholder 2"/>
          <p:cNvSpPr>
            <a:spLocks noGrp="1"/>
          </p:cNvSpPr>
          <p:nvPr>
            <p:ph idx="1"/>
          </p:nvPr>
        </p:nvSpPr>
        <p:spPr/>
        <p:txBody>
          <a:bodyPr/>
          <a:lstStyle/>
          <a:p>
            <a:pPr>
              <a:defRPr sz="1800"/>
            </a:pPr>
            <a:r>
              <a:t> und neuem Bad ab. Lange Warmwasserstrecken führen zu Wasserverschwendung und Wartezeiten. Eine sorgfältige Dimensionierung der Steigleitungen im Vorfeld verhindert Komforteinbußen.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Sanitärausstattung für Schrägen und niedrige Kniestockhöhen</a:t>
            </a:r>
          </a:p>
        </p:txBody>
      </p:sp>
      <p:sp>
        <p:nvSpPr>
          <p:cNvPr id="3" name="Content Placeholder 2"/>
          <p:cNvSpPr>
            <a:spLocks noGrp="1"/>
          </p:cNvSpPr>
          <p:nvPr>
            <p:ph idx="1"/>
          </p:nvPr>
        </p:nvSpPr>
        <p:spPr/>
        <p:txBody>
          <a:bodyPr/>
          <a:lstStyle/>
          <a:p>
            <a:pPr>
              <a:defRPr sz="1800"/>
            </a:pPr>
            <a:r>
              <a:t>Die Wahl der Sanitärobjekte im Dachgeschoss wird maßgeblich durch die verfügbare Raumhöhe bestimmt. Bei Kniestockhöhen unter 1,50 m empfiehlt sich ein wandhängendes WC mit einem flachen Vorwandspülkasten, um den Knieraum optimal auszunutzen. Für den Waschtisch eignen sich flache Einbauwaschbecken oder Eckwaschbecken, die unter der Schräge montiert werden. Eine bodenebene Dusche mit Acryl-Duschboard und integriertem Ablauf ist technisch umsetzbar, erfordert jedoch einen ausreichend dimensionierten Ablauf mit ausreichend Gefälle. Bei sehr niedrigen Räumen bieten sich auch Duschwannen mit niedriger Einbauhöhe an, die auf einem Podest sitzen könn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Sanitärausstattung für Schrägen und niedrige Kniestockhöhen</a:t>
            </a:r>
          </a:p>
        </p:txBody>
      </p:sp>
      <p:sp>
        <p:nvSpPr>
          <p:cNvPr id="3" name="Content Placeholder 2"/>
          <p:cNvSpPr>
            <a:spLocks noGrp="1"/>
          </p:cNvSpPr>
          <p:nvPr>
            <p:ph idx="1"/>
          </p:nvPr>
        </p:nvSpPr>
        <p:spPr/>
        <p:txBody>
          <a:bodyPr/>
          <a:lstStyle/>
          <a:p>
            <a:pPr>
              <a:defRPr sz="1800"/>
            </a:pPr>
            <a:r>
              <a:t>en. Für die Wahl der Armaturen ist die Erreichbarkeit unter der Schräge zu berücksichtigen. Wandarmaturen über der Badewanne oder der Dusche benötigen eine Montagehöhe von mindestens 1,20 m über der Oberkante des Fußbodens.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Energieeffizienz und sommerlicher Wärmeschutz</a:t>
            </a:r>
          </a:p>
        </p:txBody>
      </p:sp>
      <p:sp>
        <p:nvSpPr>
          <p:cNvPr id="3" name="Content Placeholder 2"/>
          <p:cNvSpPr>
            <a:spLocks noGrp="1"/>
          </p:cNvSpPr>
          <p:nvPr>
            <p:ph idx="1"/>
          </p:nvPr>
        </p:nvSpPr>
        <p:spPr/>
        <p:txBody>
          <a:bodyPr/>
          <a:lstStyle/>
          <a:p>
            <a:pPr>
              <a:defRPr sz="1800"/>
            </a:pPr>
            <a:r>
              <a:t>Ein beheiztes Bad im Dachgeschoss beeinflusst den Energiebedarf des gesamten Ausbaus spürbar. Besonders in den Sommermonaten heizen sich die Schrägen stark auf, weshalb der sommerliche Wärmeschutz nach GEG sorgfältig geplant werden sollte. Verschattungselemente wie außenliegende Raffstores oder Sonnenschutzfolien reduzieren den Wärmeeintrag deutlich. Die Lüftung muss so konzipiert sein, dass sie Feuchtigkeit schnell abführt, ohne unnötig Wärme zu verlieren. Eine kontrollierte Wohnraumlüftung mit Wärmerückgewinnung kann hier sinnvoll sein, da sie die Lüftungswärmeverluste im Winter minimiert. Die Dämmung der Warmwasser- und Heizungsleitungen 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Energieeffizienz und sommerlicher Wärmeschutz</a:t>
            </a:r>
          </a:p>
        </p:txBody>
      </p:sp>
      <p:sp>
        <p:nvSpPr>
          <p:cNvPr id="3" name="Content Placeholder 2"/>
          <p:cNvSpPr>
            <a:spLocks noGrp="1"/>
          </p:cNvSpPr>
          <p:nvPr>
            <p:ph idx="1"/>
          </p:nvPr>
        </p:nvSpPr>
        <p:spPr/>
        <p:txBody>
          <a:bodyPr/>
          <a:lstStyle/>
          <a:p>
            <a:pPr>
              <a:defRPr sz="1800"/>
            </a:pPr>
            <a:r>
              <a:t>m unbeheizten Dachbereich ist nach GEG ohnehin Pflicht und sollte mit einem Dämmstoff der Klasse WLS 035 oder besser ausgeführt werden. Eine fachgerechte Planung spart langfristig Heizkosten und schafft ein behagliches Raumklima.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Wartung und langfristige Instandhaltung</a:t>
            </a:r>
          </a:p>
        </p:txBody>
      </p:sp>
      <p:sp>
        <p:nvSpPr>
          <p:cNvPr id="3" name="Content Placeholder 2"/>
          <p:cNvSpPr>
            <a:spLocks noGrp="1"/>
          </p:cNvSpPr>
          <p:nvPr>
            <p:ph idx="1"/>
          </p:nvPr>
        </p:nvSpPr>
        <p:spPr/>
        <p:txBody>
          <a:bodyPr/>
          <a:lstStyle/>
          <a:p>
            <a:pPr>
              <a:defRPr sz="1800"/>
            </a:pPr>
            <a:r>
              <a:t>Die Zugänglichkeit aller Installationen ist ein häufig unterschätzter Faktor bei Dachgeschossbädern. Verborgene Leitungen in Vorwänden oder abgehängten Decken sollten über Revisionsöffnungen oder abnehmbare Verkleidungen zugänglich bleiben. Besonders die Anschlüsse der Fallleitung, die Ventile der Zuleitungen und die Anschlüsse des Lüftungssystems profitieren von einer leicht erreichbaren Position. Eine jährliche Inspektion der Silikonfugen und der Verbundabdichtung verhindert Folgeschäden durch eindringende Feuchtigkeit. Auch die Lüftungsfilter des Badventilators sollten regelmäßig gereinigt oder ausgetauscht werden, um die Luftqualität daue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Wartung und langfristige Instandhaltung</a:t>
            </a:r>
          </a:p>
        </p:txBody>
      </p:sp>
      <p:sp>
        <p:nvSpPr>
          <p:cNvPr id="3" name="Content Placeholder 2"/>
          <p:cNvSpPr>
            <a:spLocks noGrp="1"/>
          </p:cNvSpPr>
          <p:nvPr>
            <p:ph idx="1"/>
          </p:nvPr>
        </p:nvSpPr>
        <p:spPr/>
        <p:txBody>
          <a:bodyPr/>
          <a:lstStyle/>
          <a:p>
            <a:pPr>
              <a:defRPr sz="1800"/>
            </a:pPr>
            <a:r>
              <a:t>rhaft zu sichern. Wer bei der Planung auf Wartungsfreundlichkeit achtet, reduziert Folgekosten und schützt die Bausubstanz des Dachgeschosses nachhaltig.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Badezimmer im Berliner Dachgeschoss: Leitungen, Entwässerung und Lüftung in Schrägen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