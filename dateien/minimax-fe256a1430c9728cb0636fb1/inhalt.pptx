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berlin/-/blob/086b2d2aad91095bc53e83f0dc8bc6929258e509/_posts/2026-10-25-stellplatznachweis-stellplatzabloese-dachgeschossausbau-berlin.md" TargetMode="External"/><Relationship Id="rId3" Type="http://schemas.openxmlformats.org/officeDocument/2006/relationships/hyperlink" Target="https://holzundhaus.github.io/dachgeschossausbauberlin/dateien/minimax-fe256a1430c9728cb0636fb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Stellplatznachweis und Stellplatzablöse beim Dachgeschossausbau in Berlin · Erklärende Präsentation</a:t>
            </a:r>
          </a:p>
        </p:txBody>
      </p:sp>
      <p:sp>
        <p:nvSpPr>
          <p:cNvPr id="3" name="Content Placeholder 2"/>
          <p:cNvSpPr>
            <a:spLocks noGrp="1"/>
          </p:cNvSpPr>
          <p:nvPr>
            <p:ph idx="1"/>
          </p:nvPr>
        </p:nvSpPr>
        <p:spPr/>
        <p:txBody>
          <a:bodyPr/>
          <a:lstStyle/>
          <a:p>
            <a:r>
              <a:t>Überblick: Beim Dachgeschossausbau in Berlin kann aus dem geplanten Wohnraum eine Stellplatzpflicht entstehen. Ob Stellplätze tatsächlich geschaffen werden müssen oder eine Ablöse möglich ist, hängt unter anderem von der Nutzungsänderung, der Grundstückslage und der Entscheidung des zuständigen Bezirksamts ab. Dieser Beitrag strukturiert die Prüfung und zeigt, welche Fragen vor der Antragstellung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der Stellplatznachweis relevant wird</a:t>
            </a:r>
          </a:p>
        </p:txBody>
      </p:sp>
      <p:sp>
        <p:nvSpPr>
          <p:cNvPr id="3" name="Content Placeholder 2"/>
          <p:cNvSpPr>
            <a:spLocks noGrp="1"/>
          </p:cNvSpPr>
          <p:nvPr>
            <p:ph idx="1"/>
          </p:nvPr>
        </p:nvSpPr>
        <p:spPr/>
        <p:txBody>
          <a:bodyPr/>
          <a:lstStyle/>
          <a:p>
            <a:pPr>
              <a:defRPr sz="1800"/>
            </a:pPr>
            <a:r>
              <a:t>Die Prüfung wird meist relevant, wenn durch den Dachgeschossausbau oder eine Aufstockung neue Wohnungen oder zusätzliche Wohneinheiten entstehen, Stellplätze auf dem Grundstück entfallen oder eine bisher andere Nutzung in Wohnraum geändert wird. Im Bauantrag ermitteln Architekt oder Fachplaner anhand der geplanten Wohnfläche und der Zahl der Wohneinheiten den rechnerischen Bedarf. Dieser wird in der Baubeschreibung und im Lageplan dargestellt. Ob daraus eine Pflicht zur Schaffung, zur Teilablöse oder zur vollständigen Ablöse folgt, entscheidet die untere Bauaufsichtsbehörde im Verfahren.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der Nachweis praktisch geführt</a:t>
            </a:r>
          </a:p>
        </p:txBody>
      </p:sp>
      <p:sp>
        <p:nvSpPr>
          <p:cNvPr id="3" name="Content Placeholder 2"/>
          <p:cNvSpPr>
            <a:spLocks noGrp="1"/>
          </p:cNvSpPr>
          <p:nvPr>
            <p:ph idx="1"/>
          </p:nvPr>
        </p:nvSpPr>
        <p:spPr/>
        <p:txBody>
          <a:bodyPr/>
          <a:lstStyle/>
          <a:p>
            <a:pPr>
              <a:defRPr sz="1800"/>
            </a:pPr>
            <a:r>
              <a:t>Zunächst wird geprüft, ob Stellplätze auf dem Grundstück realisierbar sind, etwa im Hof, in einer Tiefgarage oder als Duplexparker. Bei denkmalgeschützten Höfen, enger Bebauung oder einer Tiefgarage kann dies nur eingeschränkt möglich sein. Lässt sich der Bedarf nicht vollständig auf dem Grundstück abdecken, kann nach den örtlich festgesetzten Regeln eine Stellplatzablöse in Betracht kommen. Die verbindliche Entscheidung und die zu zahlende Höhe stehen erst im Baugenehmigungsbescheid fest. Vorher ist jede Kalkulation daher nur eine Orientierung.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Bezirke und Ausnahmen unterscheiden sich</a:t>
            </a:r>
          </a:p>
        </p:txBody>
      </p:sp>
      <p:sp>
        <p:nvSpPr>
          <p:cNvPr id="3" name="Content Placeholder 2"/>
          <p:cNvSpPr>
            <a:spLocks noGrp="1"/>
          </p:cNvSpPr>
          <p:nvPr>
            <p:ph idx="1"/>
          </p:nvPr>
        </p:nvSpPr>
        <p:spPr/>
        <p:txBody>
          <a:bodyPr/>
          <a:lstStyle/>
          <a:p>
            <a:pPr>
              <a:defRPr sz="1800"/>
            </a:pPr>
            <a:r>
              <a:t>Die Anwendungspraxis ist nicht in allen Berliner Bezirken identisch. In Innenstadtbezirken wie Mitte, Charlottenburg-Wilmersdorf, Friedrichshain-Kreuzberg und Pankow besteht häufig ein hoher Parkdruck, während auf engen Grundstücken eigene Stellplätze kaum möglich sind. In Außenbezirken wie Spandau, Marzahn-Hellersdorf, Treptow-Köpenick und Reinickendorf gibt es teils mehr Fläche und einen geringeren Parkdruck; auch dort bleibt die Einzelfallprüfung maßgeblich. Bestandsschutz kann die Anforderungen beeinflussen, sofern Nutzungsmaß und Erschließung nicht wesentlich verändert werden. Bei einer WEG ist eine frühe Abstimmung mit der Verwaltung 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Bezirke und Ausnahmen unterscheiden sich</a:t>
            </a:r>
          </a:p>
        </p:txBody>
      </p:sp>
      <p:sp>
        <p:nvSpPr>
          <p:cNvPr id="3" name="Content Placeholder 2"/>
          <p:cNvSpPr>
            <a:spLocks noGrp="1"/>
          </p:cNvSpPr>
          <p:nvPr>
            <p:ph idx="1"/>
          </p:nvPr>
        </p:nvSpPr>
        <p:spPr/>
        <p:txBody>
          <a:bodyPr/>
          <a:lstStyle/>
          <a:p>
            <a:pPr>
              <a:defRPr sz="1800"/>
            </a:pPr>
            <a:r>
              <a:t>forderlich.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Denkmalschutz und ÖPNV zu klären ist</a:t>
            </a:r>
          </a:p>
        </p:txBody>
      </p:sp>
      <p:sp>
        <p:nvSpPr>
          <p:cNvPr id="3" name="Content Placeholder 2"/>
          <p:cNvSpPr>
            <a:spLocks noGrp="1"/>
          </p:cNvSpPr>
          <p:nvPr>
            <p:ph idx="1"/>
          </p:nvPr>
        </p:nvSpPr>
        <p:spPr/>
        <p:txBody>
          <a:bodyPr/>
          <a:lstStyle/>
          <a:p>
            <a:pPr>
              <a:defRPr sz="1800"/>
            </a:pPr>
            <a:r>
              <a:t>Liegt das Gebäude im Denkmalbestand oder lässt der Hof keine Stellplätze zu, kann die Bezirksbehörde eine Ablöse gegenüber einer Schaffung abwägen. Eine gute ÖPNV-Anbindung kann bei einzelnen Bezirken in die Prüfung einfließen; eine allgemeine Reduktion der Stellplatzpflicht ist damit nicht festgeschrieben. Auch der Bestandsschutz ist kein automatischer Freibrief. Nutzungsänderung, Wohnungszahl, Erschließung und Stellplatzsituation sollten deshalb getrennt dokumentiert und mit dem zuständigen Bezirksamt besprochen werden. Der vertiefende Überblick zum Stellplatznachweis im Dachgeschossausbau bietet dafür eine übersichtliche Ausgangsbasis.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Kosten- und Verfahrensplanung</a:t>
            </a:r>
          </a:p>
        </p:txBody>
      </p:sp>
      <p:sp>
        <p:nvSpPr>
          <p:cNvPr id="3" name="Content Placeholder 2"/>
          <p:cNvSpPr>
            <a:spLocks noGrp="1"/>
          </p:cNvSpPr>
          <p:nvPr>
            <p:ph idx="1"/>
          </p:nvPr>
        </p:nvSpPr>
        <p:spPr/>
        <p:txBody>
          <a:bodyPr/>
          <a:lstStyle/>
          <a:p>
            <a:pPr>
              <a:defRPr sz="1800"/>
            </a:pPr>
            <a:r>
              <a:t>Der Stellplatznachweis sollte ausdrücklich als Aufgabe im Architektenvertrag festgehalten werden. Vor der Antragstellung empfiehlt es sich, eine schriftliche Stellungnahme des Bezirksamts zur Ablöseregelung anzufordern. Eine mögliche Ablöse gehört als eigener Kostenposten in die Kalkulation und darf nicht zwischen anderen Verfahrenskosten verschwinden. Bei einer Eigentümergemeinschaft sollten Verwaltung und Eigentümer frühzeitig eingebunden und die Zuständigkeiten dokumentiert werden. Der Stellplatznachweis gehört außerdem mit Statik, Schallschutz, Abstandsflächen und gegebenenfalls Denkmalschutz gemeinsam betrachtet. Für den Ablauf von Antra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Kosten- und Verfahrensplanung</a:t>
            </a:r>
          </a:p>
        </p:txBody>
      </p:sp>
      <p:sp>
        <p:nvSpPr>
          <p:cNvPr id="3" name="Content Placeholder 2"/>
          <p:cNvSpPr>
            <a:spLocks noGrp="1"/>
          </p:cNvSpPr>
          <p:nvPr>
            <p:ph idx="1"/>
          </p:nvPr>
        </p:nvSpPr>
        <p:spPr/>
        <p:txBody>
          <a:bodyPr/>
          <a:lstStyle/>
          <a:p>
            <a:pPr>
              <a:defRPr sz="1800"/>
            </a:pPr>
            <a:r>
              <a:t>g, Architekt und Statiker bietet der Hauptartikel zur Baugenehmigung in Berlin die passende ergänzende Übersicht.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Stellplatznachweis und Stellplatzablöse beim Dachgeschossausbau in Berlin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