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berlin/-/blob/7493143575fcbc4e14683f76873c354e3b4f1ab8/_posts/2026-10-30-gaubenarten-fuer-berliner-daecher-vergleich-sattel-berliner-walm-mansardendach.md" TargetMode="External"/><Relationship Id="rId3" Type="http://schemas.openxmlformats.org/officeDocument/2006/relationships/hyperlink" Target="https://holzundhaus.github.io/dachgeschossausbauberlin/dateien/minimax-e2f8ff855df3cabd792e3c5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Gaube passt zu Ihrem Berliner Dach? Ein Vergleich nach Dachform, Bezirk und BauO Bln · Erklärende Präsentation</a:t>
            </a:r>
          </a:p>
        </p:txBody>
      </p:sp>
      <p:sp>
        <p:nvSpPr>
          <p:cNvPr id="3" name="Content Placeholder 2"/>
          <p:cNvSpPr>
            <a:spLocks noGrp="1"/>
          </p:cNvSpPr>
          <p:nvPr>
            <p:ph idx="1"/>
          </p:nvPr>
        </p:nvSpPr>
        <p:spPr/>
        <p:txBody>
          <a:bodyPr/>
          <a:lstStyle/>
          <a:p>
            <a:r>
              <a:t>Überblick: Die passende Gaube hängt im Berliner Dachgeschossausbau vor allem von der vorhandenen Dachform ab. Satteldach, Berliner Dach, Walm- und Mansardendach stellen unterschiedliche Anforderungen an Gaubenart, Genehmigung und Statik. Dieser Ratgeber bietet eine kompakte Entscheidungshilfe für die Planung in Berliner Wohngebäuden. Die folgenden Hinweise ordnen die gängigen Gaubenarten den typischen Dachformen zu und zeigen, welche Fragen vor der konkreten Planung geklärt werden sollten. Weitere fachliche Orientierung bietet der Überblick zu Dachgauben und Dachfenstern.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Dachform über die Gaubenart entscheidet</a:t>
            </a:r>
          </a:p>
        </p:txBody>
      </p:sp>
      <p:sp>
        <p:nvSpPr>
          <p:cNvPr id="3" name="Content Placeholder 2"/>
          <p:cNvSpPr>
            <a:spLocks noGrp="1"/>
          </p:cNvSpPr>
          <p:nvPr>
            <p:ph idx="1"/>
          </p:nvPr>
        </p:nvSpPr>
        <p:spPr/>
        <p:txBody>
          <a:bodyPr/>
          <a:lstStyle/>
          <a:p>
            <a:pPr>
              <a:defRPr sz="1800"/>
            </a:pPr>
            <a:r>
              <a:t>Eine Gaube ist kein beliebiges Standardbauteil, sondern muss zur vorhandenen Dachneigung, Dachgeometrie und zur Nutzung des Dachgeschosses passen. Sie kann Tageslicht, zusätzliche Grundfläche und Stehhöhe schaffen, verändert aber zugleich die Gestalt und statische Beanspruchung des Daches. Nach den in der Berliner Bauordnung genannten Mindestneigungen benötigen Sattel- und Pultdächer mindestens 15 Grad, Walmdächer mindestens 12 Grad. Flachere Berliner Dächer verlangen eine besonders sorgfältige Lösung. Wichtig für die Praxis: Bei Anbauten von Gauben, neuer Wohnraum oder einer Veränderung der Dachform ist in der Regel eine Genehmigung erforder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Dachform über die Gaubenart entscheidet</a:t>
            </a:r>
          </a:p>
        </p:txBody>
      </p:sp>
      <p:sp>
        <p:nvSpPr>
          <p:cNvPr id="3" name="Content Placeholder 2"/>
          <p:cNvSpPr>
            <a:spLocks noGrp="1"/>
          </p:cNvSpPr>
          <p:nvPr>
            <p:ph idx="1"/>
          </p:nvPr>
        </p:nvSpPr>
        <p:spPr/>
        <p:txBody>
          <a:bodyPr/>
          <a:lstStyle/>
          <a:p>
            <a:pPr>
              <a:defRPr sz="1800"/>
            </a:pPr>
            <a:r>
              <a:t>lich. Ob stattdessen eine Freistellung möglich ist, sollte früh mit dem zuständigen Bezirksamt geklärt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gängigen Gaubenarten im Überblick</a:t>
            </a:r>
          </a:p>
        </p:txBody>
      </p:sp>
      <p:sp>
        <p:nvSpPr>
          <p:cNvPr id="3" name="Content Placeholder 2"/>
          <p:cNvSpPr>
            <a:spLocks noGrp="1"/>
          </p:cNvSpPr>
          <p:nvPr>
            <p:ph idx="1"/>
          </p:nvPr>
        </p:nvSpPr>
        <p:spPr/>
        <p:txBody>
          <a:bodyPr/>
          <a:lstStyle/>
          <a:p>
            <a:pPr>
              <a:defRPr sz="1800"/>
            </a:pPr>
            <a:r>
              <a:t>Die Schleppgaube besitzt ein flach geneigtes Pultdach, das an die Hauptdachfläche angeschleppt wird. Sie erweitert vor allem die Breite und ist eine typische Lösung für Satteldächer sowie flachere Dachformen. Die Stellgaube wird mit senkrechter Frontwand in die Dachschräge gestellt. Dadurch entsteht mehr nutzbare Grundfläche, ihre Wirkung hängt jedoch stark von der vorhandenen Neigung ab. Die Walmdachgaube verfügt über ein eigenes kleines Walmdach und setzt den Übergang zum Hauptdach fort. Sie ist für echte Walmdächer geeignet, bei denen eine durchgehende Schleppgaube konstruktiv schwer möglich ist. Die Mansardgaube übernimmt mit stark geneig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vier gängigen Gaubenarten im Überblick</a:t>
            </a:r>
          </a:p>
        </p:txBody>
      </p:sp>
      <p:sp>
        <p:nvSpPr>
          <p:cNvPr id="3" name="Content Placeholder 2"/>
          <p:cNvSpPr>
            <a:spLocks noGrp="1"/>
          </p:cNvSpPr>
          <p:nvPr>
            <p:ph idx="1"/>
          </p:nvPr>
        </p:nvSpPr>
        <p:spPr/>
        <p:txBody>
          <a:bodyPr/>
          <a:lstStyle/>
          <a:p>
            <a:pPr>
              <a:defRPr sz="1800"/>
            </a:pPr>
            <a:r>
              <a:t>ten Flächen das Profil eines Mansardendachs. Sie kann bei sehr flachen unteren Dachbereichen den Knick der Dachfläche nutzen und das Erscheinungsbild des Bestands aufnehmen.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Zuordnung für Berliner Dächer und Bezirke</a:t>
            </a:r>
          </a:p>
        </p:txBody>
      </p:sp>
      <p:sp>
        <p:nvSpPr>
          <p:cNvPr id="3" name="Content Placeholder 2"/>
          <p:cNvSpPr>
            <a:spLocks noGrp="1"/>
          </p:cNvSpPr>
          <p:nvPr>
            <p:ph idx="1"/>
          </p:nvPr>
        </p:nvSpPr>
        <p:spPr/>
        <p:txBody>
          <a:bodyPr/>
          <a:lstStyle/>
          <a:p>
            <a:pPr>
              <a:defRPr sz="1800"/>
            </a:pPr>
            <a:r>
              <a:t>Für ein flaches Berliner Dach, wie es im Bezirk Pankow häufig vorkommt, sind flach geneigte Schlepp- oder profilangepasste Mansardgauben naheliegend. Breite Öffnungen können die nutzbare Stehhöhe verbessern, während der flache Dachbereich die Gestaltung begrenzt. In Charlottenburg-Wilmersdorf treffen Mansardendächer im typischen Alt- und Gründerzeitbestand häufig auf einen sehr flachen unteren Dachbereich. Hier kommt es darauf an, das Mansardenprofil nachvollziehbar aufzunehmen und zugleich Denkmalschutzfragen zu prüfen. Bei einem Walmdach in Reinickendorf ist die Walmdachgaube die konstruktiv und gestalterisch passende Wahl, weil sie die 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Zuordnung für Berliner Dächer und Bezirke</a:t>
            </a:r>
          </a:p>
        </p:txBody>
      </p:sp>
      <p:sp>
        <p:nvSpPr>
          <p:cNvPr id="3" name="Content Placeholder 2"/>
          <p:cNvSpPr>
            <a:spLocks noGrp="1"/>
          </p:cNvSpPr>
          <p:nvPr>
            <p:ph idx="1"/>
          </p:nvPr>
        </p:nvSpPr>
        <p:spPr/>
        <p:txBody>
          <a:bodyPr/>
          <a:lstStyle/>
          <a:p>
            <a:pPr>
              <a:defRPr sz="1800"/>
            </a:pPr>
            <a:r>
              <a:t>eigten Flächen des Hauptdachs fortführt. In den großflächigen Wohnsiedlungen von Marzahn-Hellersdorf können breite, flach geneigte Gauben auf niedrig geneigten Dächern Tageslicht und zusätzliche Stellfläche schaffen. Auch hier bleiben Genehmigung, Standsicherheit und konstruktiver Aufbau zentrale Prüfpunkte.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Entscheidung geklärt werden sollte</a:t>
            </a:r>
          </a:p>
        </p:txBody>
      </p:sp>
      <p:sp>
        <p:nvSpPr>
          <p:cNvPr id="3" name="Content Placeholder 2"/>
          <p:cNvSpPr>
            <a:spLocks noGrp="1"/>
          </p:cNvSpPr>
          <p:nvPr>
            <p:ph idx="1"/>
          </p:nvPr>
        </p:nvSpPr>
        <p:spPr/>
        <p:txBody>
          <a:bodyPr/>
          <a:lstStyle/>
          <a:p>
            <a:pPr>
              <a:defRPr sz="1800"/>
            </a:pPr>
            <a:r>
              <a:t>Vor der Festlegung einer Gaubenform sollten Eigentümer die Dachform und Neigung, die gewünschte Nutzung sowie den baulichen Bestand dokumentieren. Ein Fachplanung kann anschließend prüfen, welche Gaubenvariante geometrisch und konstruktiv sinnvoll ist. Für die spätere Genehmigung ist außerdem wichtig, ob das Gebäude als Baudenkmal geführt wird oder in einem Bereich mit Erhaltungssatzung liegt. In solchen Fällen können Form, Material und Proportionen an das vorhandene Erscheinungsbild gebunden sein. Auch statische Auswirkungen müssen berücksichtigt werden: Eine Gaube fügt zusätzliche Lasten in den Dachstuhl ein, weshalb die Tragfähigkeit geprü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Entscheidung geklärt werden sollte</a:t>
            </a:r>
          </a:p>
        </p:txBody>
      </p:sp>
      <p:sp>
        <p:nvSpPr>
          <p:cNvPr id="3" name="Content Placeholder 2"/>
          <p:cNvSpPr>
            <a:spLocks noGrp="1"/>
          </p:cNvSpPr>
          <p:nvPr>
            <p:ph idx="1"/>
          </p:nvPr>
        </p:nvSpPr>
        <p:spPr/>
        <p:txBody>
          <a:bodyPr/>
          <a:lstStyle/>
          <a:p>
            <a:pPr>
              <a:defRPr sz="1800"/>
            </a:pPr>
            <a:r>
              <a:t>ft werden sollte. Die zuständige Behörde klärt, ob ein vollständiger Bauantrag oder eine Freistellung infrage kommt. Die im Vergleich zu anderen Bezirken unterschiedlichen Bearbeitungszeiten beeinflussen den Terminplan und sollten eingeplant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ersten Einordnung zur konkreten Planung</a:t>
            </a:r>
          </a:p>
        </p:txBody>
      </p:sp>
      <p:sp>
        <p:nvSpPr>
          <p:cNvPr id="3" name="Content Placeholder 2"/>
          <p:cNvSpPr>
            <a:spLocks noGrp="1"/>
          </p:cNvSpPr>
          <p:nvPr>
            <p:ph idx="1"/>
          </p:nvPr>
        </p:nvSpPr>
        <p:spPr/>
        <p:txBody>
          <a:bodyPr/>
          <a:lstStyle/>
          <a:p>
            <a:pPr>
              <a:defRPr sz="1800"/>
            </a:pPr>
            <a:r>
              <a:t>Ein belastbarer Vergleich beginnt mit drei Angaben: der vorhandenen Dachform, dem Bezirk und der geplanten Nutzung. Daraus lässt sich ableiten, welche Gaubenart grundsätzlich infrage kommt und welcheGenehmigungs- und Denkmalschutzfragen zu erwarten sind. Für eine konkrete Ausführung sind zusätzlich eine Bestandsaufnahme, Angaben zur Dachkonstruktion und die erforderlichen Planunterlagen nötig. Ein detaillierter Vergleich der Schlepp-, Stell-, Walm- und Mansardgaube sowie Hinweise zur Berliner Genehmigungspraxis findet sich im Leistungsangebot zu Dachgauben und Dachfenstern. Der fachliche Einstieg kann zudem beim Ratgeber zu Gaubenarten für 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ersten Einordnung zur konkreten Planung</a:t>
            </a:r>
          </a:p>
        </p:txBody>
      </p:sp>
      <p:sp>
        <p:nvSpPr>
          <p:cNvPr id="3" name="Content Placeholder 2"/>
          <p:cNvSpPr>
            <a:spLocks noGrp="1"/>
          </p:cNvSpPr>
          <p:nvPr>
            <p:ph idx="1"/>
          </p:nvPr>
        </p:nvSpPr>
        <p:spPr/>
        <p:txBody>
          <a:bodyPr/>
          <a:lstStyle/>
          <a:p>
            <a:pPr>
              <a:defRPr sz="1800"/>
            </a:pPr>
            <a:r>
              <a:t>rliner Dächer helfen, die Entscheidung anhand von Dachform, Bezirk und Bauordnung vorzubereiten.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Welche Gaube passt zu Ihrem Berliner Dach? Ein Vergleich nach Dachform, Bezirk und BauO Bln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